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617" y="-275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2025 6</a:t>
            </a:r>
            <a:r>
              <a:rPr lang="en-US" sz="4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GLOBAL CONFERENCE FOR ADVANCEMENT IN TECHNOLOGY</a:t>
            </a: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(GCAT 2025)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68859"/>
            <a:ext cx="9144000" cy="418914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EfficientSINet-B4: Enhancing Crowd Counting with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Shunting Inhibition Mechanism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2375</a:t>
            </a:r>
            <a:endParaRPr lang="en-GB" b="1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Yerragunta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Mahesh Kumar Reddy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(Autonomous),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</a:t>
            </a:r>
            <a:endParaRPr lang="en-GB" b="1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" y="281258"/>
            <a:ext cx="1637211" cy="868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572125"/>
            <a:ext cx="35528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Framework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5"/>
            </a:pPr>
            <a:endParaRPr lang="en-IN" dirty="0"/>
          </a:p>
          <a:p>
            <a:pPr marL="514350" indent="-514350">
              <a:buAutoNum type="arabicPeriod" startAt="5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/>
              <a:t>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58339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 Counting Importance: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Crucial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safety, crowd control, and smart surveillance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overcrowding incidents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optimizing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ensuring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evacuation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Traditional Methods: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variations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counting difficult.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 models (like classic SINet)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in dense and complex scenes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biologically inspired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that can effectively handle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crowds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deeper features and enhance robustness.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counting accuracy while keeping the model efficient and scalable for real-world use.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2735407"/>
            <a:ext cx="4278354" cy="2853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accurate crowd counting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Shunting Inhibition mechanism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shallow SINet encoder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richer feature extraction.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biologically inspired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Shunting Inhibition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to improve density estimation.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robustness and accuracy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and complex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crowd scenes.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efficiency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benchmark datasets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ShanghaiTech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Part-A).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MCNN (Zhang et al.)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Multi-column CNN to handle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variation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limited contextual learning.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CSRNet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 et al.)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convolutions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broader receptive fields but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heavy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DM-Count (Wang et al.)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Treated counting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map matching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improved accuracy but complex training.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Radar-Transformer (Nguyen et al.)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signals + transformers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privacy-preserving counting.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SDA-Net (Bai et al.)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Introduced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scale-aware attention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effective but lacks generalization in dense crowds.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yet lightweight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contextual features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real-time applications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dense and occluded crowd scenes.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63690"/>
            <a:ext cx="7867261" cy="51132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Name: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EfficientSINet-B4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 hybrid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encoder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Shunting Inhibition mechanism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Overview: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Crowd images from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ShanghaiTech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Part-A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→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256×256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 statistics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head annotations (Gaussian kernel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15)</a:t>
            </a:r>
            <a:endParaRPr lang="el-G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hierarchical features via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backbone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Map Generation: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CNN decoder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SI-Conv2D layers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+ global contextual features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density map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 count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obtained by summing pixel intensities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60" y="1543146"/>
            <a:ext cx="3350370" cy="5035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4278"/>
            <a:ext cx="7391400" cy="484268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pretrained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multi-scale, high-level visual features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parameter size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(only 25M parameters).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CNN with successive layers: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Conv2D(1792→512, 3×3)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Conv2D(512→256, 3×3)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Conv2D(256→128, 3×3)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Conv2D(128→1, 1×1)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layer outputs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preserve real values).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Shunting Inhibition (SI-Conv2D):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neural processes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kernel sizes (3×3, 5×5, 7×7).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Fuses local &amp; global context through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and summation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model’s ability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 irrelevant noise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crowd regions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0" y="2055748"/>
            <a:ext cx="3009900" cy="3547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ShanghaiTech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Part-A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(Benchmark dataset for dense crowds)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482 high-resolution crowd images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for training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 for testing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image annotated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locations (.mat files)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all images →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× 256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ImageNet mean &amp; standard deviation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GPU training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(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15)</a:t>
            </a: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total crowd count consistency after resizing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604" y="13186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204"/>
            <a:ext cx="10515600" cy="45907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Details: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Squared Error (MSE)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0.0001 (with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50–100 (until convergence)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GPU-accelerated training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convergence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loss reduction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learning rate adaptation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avoids overfitting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decoder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MAE stability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93" y="461478"/>
            <a:ext cx="4245544" cy="2541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270" y="3684037"/>
            <a:ext cx="5078341" cy="3173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6873"/>
                <a:ext cx="7242110" cy="4600090"/>
              </a:xfrm>
            </p:spPr>
            <p:txBody>
              <a:bodyPr>
                <a:normAutofit fontScale="67500" lnSpcReduction="2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Metrics Used: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Absolute Error (MAE):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charset="0"/>
                        </a:rPr>
                        <m:t>𝑀𝐴𝐸</m:t>
                      </m:r>
                      <m:r>
                        <a:rPr lang="en-IN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r>
                            <a:rPr lang="ar-AE">
                              <a:latin typeface="Cambria Math" panose="02040503050406030204" charset="0"/>
                            </a:rPr>
                            <m:t>∣</m:t>
                          </m:r>
                        </m:e>
                      </m:nary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charset="0"/>
                            </a:rPr>
                            <m:t>𝑝𝑟𝑒𝑑</m:t>
                          </m:r>
                        </m:sub>
                      </m:sSub>
                      <m:r>
                        <a:rPr lang="ar-AE">
                          <a:latin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charset="0"/>
                            </a:rPr>
                            <m:t>𝑔𝑡</m:t>
                          </m:r>
                        </m:sub>
                      </m:sSub>
                      <m:r>
                        <a:rPr lang="ar-AE">
                          <a:latin typeface="Cambria Math" panose="02040503050406030204" charset="0"/>
                        </a:rPr>
                        <m:t>∣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deviation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predicted and actual counts.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Root Mean Squared Error (RMSE):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RMSE=sqrt(1/N​∑(Cpred​−Cgt​)^2)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Evaluates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 consistency and variation.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Summary: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36.4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RMSE: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85.4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Outperforms baseline SINet (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MAE 52.3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RMSE 87.6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6873"/>
                <a:ext cx="7242110" cy="4600090"/>
              </a:xfrm>
              <a:blipFill rotWithShape="1">
                <a:blip r:embed="rId1"/>
                <a:stretch>
                  <a:fillRect t="-335" r="8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690" y="2162175"/>
            <a:ext cx="3878229" cy="38280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865"/>
            <a:ext cx="7923245" cy="4572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Highlights: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convergence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baseline.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 with segmentation branch integration.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learns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density estimation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(Epoch 5–10).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density maps closely match real crowd distributions.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even under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high-density conditions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740" y="3685640"/>
            <a:ext cx="448627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Efficiency: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&amp; faster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ideal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surveillance systems</a:t>
            </a:r>
            <a:r>
              <a:rPr lang="en-US" dirty="0"/>
              <a:t>.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957" y="2216020"/>
            <a:ext cx="572452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4749379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EfficientSINet-B4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encoder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Shunting Inhibition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enhanced feature extraction.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36.4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85.4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SINet and other models.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suitable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crowd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and diverse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UCF-QNRF, JHU-CROWD++).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kernels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density mapping.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further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device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5991</Words>
  <Application>WPS Presentation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Cambria Math</vt:lpstr>
      <vt:lpstr>Calibri Light</vt:lpstr>
      <vt:lpstr>Calibri</vt:lpstr>
      <vt:lpstr>Microsoft YaHei</vt:lpstr>
      <vt:lpstr>Arial Unicode MS</vt:lpstr>
      <vt:lpstr>Office Theme</vt:lpstr>
      <vt:lpstr>2025 6th  GLOBAL CONFERENCE FOR ADVANCEMENT IN TECHNOLOGY (GCAT 2025)</vt:lpstr>
      <vt:lpstr>Index-</vt:lpstr>
      <vt:lpstr>Introduction-</vt:lpstr>
      <vt:lpstr>Objectives-</vt:lpstr>
      <vt:lpstr>Literature Survey-</vt:lpstr>
      <vt:lpstr>Proposed Framework-</vt:lpstr>
      <vt:lpstr>Model Architecture-</vt:lpstr>
      <vt:lpstr>Dataset &amp; Preprocessing-</vt:lpstr>
      <vt:lpstr>Training Setup-</vt:lpstr>
      <vt:lpstr>Evaluation Metrics-</vt:lpstr>
      <vt:lpstr>Results &amp; Analysis-</vt:lpstr>
      <vt:lpstr>Comparative Analysis-</vt:lpstr>
      <vt:lpstr>Conclusion &amp; Future Scope-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Mahesh Kumar</cp:lastModifiedBy>
  <cp:revision>12</cp:revision>
  <dcterms:created xsi:type="dcterms:W3CDTF">2021-06-10T05:32:00Z</dcterms:created>
  <dcterms:modified xsi:type="dcterms:W3CDTF">2025-10-24T04:10:26Z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3536EE470FF34B43B24C68C5B808134E_12</vt:lpwstr>
  </property>
  <property fmtid="{D5CDD505-2E9C-101B-9397-08002B2CF9AE}" pid="3" name="KSOProductBuildVer">
    <vt:lpwstr>1033-12.2.0.23131</vt:lpwstr>
  </property>
</Properties>
</file>